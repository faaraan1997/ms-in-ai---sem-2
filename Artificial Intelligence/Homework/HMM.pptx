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Economica"/>
      <p:regular r:id="rId17"/>
      <p:bold r:id="rId18"/>
      <p:italic r:id="rId19"/>
      <p:boldItalic r:id="rId20"/>
    </p:embeddedFont>
    <p:embeddedFont>
      <p:font typeface="Open Sans"/>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Economica-boldItalic.fntdata"/><Relationship Id="rId11" Type="http://schemas.openxmlformats.org/officeDocument/2006/relationships/slide" Target="slides/slide6.xml"/><Relationship Id="rId22" Type="http://schemas.openxmlformats.org/officeDocument/2006/relationships/font" Target="fonts/OpenSans-bold.fntdata"/><Relationship Id="rId10" Type="http://schemas.openxmlformats.org/officeDocument/2006/relationships/slide" Target="slides/slide5.xml"/><Relationship Id="rId21" Type="http://schemas.openxmlformats.org/officeDocument/2006/relationships/font" Target="fonts/OpenSans-regular.fntdata"/><Relationship Id="rId13" Type="http://schemas.openxmlformats.org/officeDocument/2006/relationships/slide" Target="slides/slide8.xml"/><Relationship Id="rId24" Type="http://schemas.openxmlformats.org/officeDocument/2006/relationships/font" Target="fonts/OpenSans-boldItalic.fntdata"/><Relationship Id="rId12" Type="http://schemas.openxmlformats.org/officeDocument/2006/relationships/slide" Target="slides/slide7.xml"/><Relationship Id="rId23" Type="http://schemas.openxmlformats.org/officeDocument/2006/relationships/font" Target="fonts/OpenSans-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Economica-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Economica-italic.fntdata"/><Relationship Id="rId6" Type="http://schemas.openxmlformats.org/officeDocument/2006/relationships/slide" Target="slides/slide1.xml"/><Relationship Id="rId18" Type="http://schemas.openxmlformats.org/officeDocument/2006/relationships/font" Target="fonts/Economica-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c6f90357f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c6f90357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Speaker Notes</a:t>
            </a:r>
            <a:endParaRPr/>
          </a:p>
          <a:p>
            <a:pPr indent="0" lvl="0" marL="0" rtl="0" algn="l">
              <a:spcBef>
                <a:spcPts val="0"/>
              </a:spcBef>
              <a:spcAft>
                <a:spcPts val="0"/>
              </a:spcAft>
              <a:buNone/>
            </a:pPr>
            <a:r>
              <a:rPr lang="en"/>
              <a:t>In this presentation, we will delve into the world of Hidden Markov Models (HMMs), a powerful statistical tool used in various domains. We'll begin by understanding the core concepts of hidden states and observable outputs, the building blocks of HMMs. We'll then explore the essential components of an HMM, including transition probabilities, emission probabilities, and initial state distribution. To solidify our understanding, we'll explore a practical example using HMMs for weather prediction. Finally, we'll delve into three key HMM algorithms: the Forward Algorithm, the Viterbi Algorithm, and the Baum-Welch Algorithm, and discover their functionalities. Lastly, we will explore a specific application of HMMs and discuss the challenges and limitations associated with their use in that domain.</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2c1259bd1f5_0_67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2c1259bd1f5_0_6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Speaker Notes</a:t>
            </a:r>
            <a:endParaRPr/>
          </a:p>
          <a:p>
            <a:pPr indent="0" lvl="0" marL="0" rtl="0" algn="l">
              <a:spcBef>
                <a:spcPts val="0"/>
              </a:spcBef>
              <a:spcAft>
                <a:spcPts val="0"/>
              </a:spcAft>
              <a:buNone/>
            </a:pPr>
            <a:r>
              <a:rPr lang="en"/>
              <a:t>Imagine the weather. The true state of the weather (sunny, rainy, cloudy) is a hidden state, something we cannot directly observe. However, we can observe the effects of the weather, such as sunshine, rain, or an overcast sky. These are the observable outputs. HMMs excel at modeling these scenarios where hidden states influence the observable outputs we perceive.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2c1259bd1f5_0_67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2c1259bd1f5_0_6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Speaker Notes</a:t>
            </a:r>
            <a:endParaRPr/>
          </a:p>
          <a:p>
            <a:pPr indent="0" lvl="0" marL="0" rtl="0" algn="l">
              <a:spcBef>
                <a:spcPts val="0"/>
              </a:spcBef>
              <a:spcAft>
                <a:spcPts val="0"/>
              </a:spcAft>
              <a:buNone/>
            </a:pPr>
            <a:r>
              <a:rPr lang="en"/>
              <a:t>An HMM is built on three fundamental components. Transition probabilities define the likelihood of moving from one hidden state to another. For example, the probability of transitioning from a sunny day to a rainy day. Emission probabilities represent the chance of observing a specific output given a hidden state. Imagine the probability of sunshine occurring on a sunny day. Finally, the initial state distribution specifies the probability of each hidden state being the starting state in a sequence.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2c1259bd1f5_0_68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2c1259bd1f5_0_6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Speaker Notes</a:t>
            </a:r>
            <a:endParaRPr/>
          </a:p>
          <a:p>
            <a:pPr indent="0" lvl="0" marL="0" rtl="0" algn="l">
              <a:spcBef>
                <a:spcPts val="0"/>
              </a:spcBef>
              <a:spcAft>
                <a:spcPts val="0"/>
              </a:spcAft>
              <a:buNone/>
            </a:pPr>
            <a:r>
              <a:rPr lang="en"/>
              <a:t>Now, let's put HMMs into action! Imagine we want to predict the weather sequence for tomorrow. We can define hidden states as sunny, rainy, and cloudy, with observable outputs being sunshine, rain, and overcast skies. By analyzing historical weather data, we can estimate the transition probabilities (how likely it is to transition from sunny to rainy) and emission probabilities (how likely it is to rain on a rainy day). With this information, HMMs can calculate the probability of various weather sequences and predict the most likely weather for tomorrow.</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2c1259bd1f5_0_69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2c1259bd1f5_0_6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2c1259bd1f5_0_69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2c1259bd1f5_0_6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c1259bd1f5_0_70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2c1259bd1f5_0_7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c1259bd1f5_0_71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2c1259bd1f5_0_7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c1259bd1f5_0_72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2c1259bd1f5_0_7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Speaker Notes</a:t>
            </a:r>
            <a:endParaRPr/>
          </a:p>
          <a:p>
            <a:pPr indent="0" lvl="0" marL="0" rtl="0" algn="l">
              <a:spcBef>
                <a:spcPts val="0"/>
              </a:spcBef>
              <a:spcAft>
                <a:spcPts val="0"/>
              </a:spcAft>
              <a:buClr>
                <a:schemeClr val="dk1"/>
              </a:buClr>
              <a:buSzPts val="1100"/>
              <a:buFont typeface="Arial"/>
              <a:buNone/>
            </a:pPr>
            <a:r>
              <a:rPr lang="en"/>
              <a:t>When used for speech recognition, HMMs are employed in the following steps: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The speech signal is first processed to extract relevant features that capture the characteristics of the sound. These features might include Mel-frequency cepstral coefficients (MFCCs), which provide a compressed representation of the speech spectrum.</a:t>
            </a:r>
            <a:endParaRPr/>
          </a:p>
          <a:p>
            <a:pPr indent="0" lvl="0" marL="0" rtl="0" algn="l">
              <a:spcBef>
                <a:spcPts val="0"/>
              </a:spcBef>
              <a:spcAft>
                <a:spcPts val="0"/>
              </a:spcAft>
              <a:buClr>
                <a:schemeClr val="dk1"/>
              </a:buClr>
              <a:buSzPts val="1100"/>
              <a:buFont typeface="Arial"/>
              <a:buNone/>
            </a:pPr>
            <a:r>
              <a:rPr lang="en"/>
              <a:t>An HMM is built for each phoneme in the spoken language. Each HMM captures the statistical properties of that particular phoneme, including the probabilities of transitioning between different states within the phoneme and the probabilities of emitting specific acoustic features.</a:t>
            </a:r>
            <a:endParaRPr/>
          </a:p>
          <a:p>
            <a:pPr indent="0" lvl="0" marL="0" rtl="0" algn="l">
              <a:spcBef>
                <a:spcPts val="0"/>
              </a:spcBef>
              <a:spcAft>
                <a:spcPts val="0"/>
              </a:spcAft>
              <a:buClr>
                <a:schemeClr val="dk1"/>
              </a:buClr>
              <a:buSzPts val="1100"/>
              <a:buFont typeface="Arial"/>
              <a:buNone/>
            </a:pPr>
            <a:r>
              <a:rPr lang="en"/>
              <a:t>The extracted features are then fed into each HMM, and the model calculates the probability of the features being generated by the sequence of hidden states (phonemes) represented by that HMM.</a:t>
            </a:r>
            <a:endParaRPr/>
          </a:p>
          <a:p>
            <a:pPr indent="0" lvl="0" marL="0" rtl="0" algn="l">
              <a:spcBef>
                <a:spcPts val="0"/>
              </a:spcBef>
              <a:spcAft>
                <a:spcPts val="0"/>
              </a:spcAft>
              <a:buNone/>
            </a:pPr>
            <a:r>
              <a:rPr lang="en"/>
              <a:t>Finally, a decoding algorithm is used to find the most likely sequence of phonemes that generated the observed features. This sequence is then mapped back to the corresponding words in the spoken language.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c1259bd1f5_0_72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2c1259bd1f5_0_7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Speaker Notes</a:t>
            </a:r>
            <a:endParaRPr/>
          </a:p>
          <a:p>
            <a:pPr indent="0" lvl="0" marL="0" rtl="0" algn="l">
              <a:spcBef>
                <a:spcPts val="0"/>
              </a:spcBef>
              <a:spcAft>
                <a:spcPts val="0"/>
              </a:spcAft>
              <a:buClr>
                <a:schemeClr val="dk1"/>
              </a:buClr>
              <a:buSzPts val="1100"/>
              <a:buFont typeface="Arial"/>
              <a:buNone/>
            </a:pPr>
            <a:r>
              <a:rPr lang="en"/>
              <a:t>While HMMs are a powerful tool for speech recognition, they do have some limitations: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Coarticulation: Speech is a continuous process where neighboring sounds influence each other's production. HMMs typically model phonemes as independent units, which can limit their ability to capture these coarticulation effects.</a:t>
            </a:r>
            <a:endParaRPr/>
          </a:p>
          <a:p>
            <a:pPr indent="0" lvl="0" marL="0" rtl="0" algn="l">
              <a:spcBef>
                <a:spcPts val="0"/>
              </a:spcBef>
              <a:spcAft>
                <a:spcPts val="0"/>
              </a:spcAft>
              <a:buNone/>
            </a:pPr>
            <a:r>
              <a:rPr lang="en"/>
              <a:t>Background noise: Speech recognition systems based on HMMs can be susceptible to background noise. The presence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2c1259bd1f5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2c1259bd1f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2744013" y="756700"/>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1" name="Google Shape;11;p2"/>
          <p:cNvSpPr/>
          <p:nvPr/>
        </p:nvSpPr>
        <p:spPr>
          <a:xfrm rot="10800000">
            <a:off x="5318350" y="32667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2" name="Google Shape;12;p2"/>
          <p:cNvSpPr txBox="1"/>
          <p:nvPr>
            <p:ph type="ctrTitle"/>
          </p:nvPr>
        </p:nvSpPr>
        <p:spPr>
          <a:xfrm>
            <a:off x="3044700" y="1444255"/>
            <a:ext cx="3054600" cy="15372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3" name="Google Shape;13;p2"/>
          <p:cNvSpPr txBox="1"/>
          <p:nvPr>
            <p:ph idx="1" type="subTitle"/>
          </p:nvPr>
        </p:nvSpPr>
        <p:spPr>
          <a:xfrm>
            <a:off x="3044700" y="3116580"/>
            <a:ext cx="3054600" cy="7014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flipH="1">
            <a:off x="7595938" y="4602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7" name="Google Shape;17;p3"/>
          <p:cNvSpPr/>
          <p:nvPr/>
        </p:nvSpPr>
        <p:spPr>
          <a:xfrm flipH="1" rot="10800000">
            <a:off x="466425" y="35583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8" name="Google Shape;18;p3"/>
          <p:cNvSpPr txBox="1"/>
          <p:nvPr>
            <p:ph type="title"/>
          </p:nvPr>
        </p:nvSpPr>
        <p:spPr>
          <a:xfrm>
            <a:off x="773700" y="1806450"/>
            <a:ext cx="7596600" cy="15306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4"/>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7" name="Google Shape;27;p5"/>
          <p:cNvSpPr txBox="1"/>
          <p:nvPr>
            <p:ph idx="1" type="body"/>
          </p:nvPr>
        </p:nvSpPr>
        <p:spPr>
          <a:xfrm>
            <a:off x="311700" y="1225225"/>
            <a:ext cx="3999900" cy="3354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2" type="body"/>
          </p:nvPr>
        </p:nvSpPr>
        <p:spPr>
          <a:xfrm>
            <a:off x="4832400" y="1225225"/>
            <a:ext cx="3999900" cy="3354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5" name="Google Shape;35;p7"/>
          <p:cNvSpPr txBox="1"/>
          <p:nvPr>
            <p:ph idx="1" type="body"/>
          </p:nvPr>
        </p:nvSpPr>
        <p:spPr>
          <a:xfrm>
            <a:off x="311700" y="1399400"/>
            <a:ext cx="2808000" cy="27849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6" name="Google Shape;36;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8"/>
          <p:cNvSpPr txBox="1"/>
          <p:nvPr>
            <p:ph type="title"/>
          </p:nvPr>
        </p:nvSpPr>
        <p:spPr>
          <a:xfrm>
            <a:off x="490250" y="450150"/>
            <a:ext cx="5878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9"/>
          <p:cNvSpPr/>
          <p:nvPr/>
        </p:nvSpPr>
        <p:spPr>
          <a:xfrm>
            <a:off x="4572000" y="-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 name="Google Shape;43;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4" name="Google Shape;44;p9"/>
          <p:cNvSpPr txBox="1"/>
          <p:nvPr>
            <p:ph type="title"/>
          </p:nvPr>
        </p:nvSpPr>
        <p:spPr>
          <a:xfrm>
            <a:off x="265500" y="929275"/>
            <a:ext cx="4045200" cy="1786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p:txBody>
      </p:sp>
      <p:sp>
        <p:nvSpPr>
          <p:cNvPr id="45" name="Google Shape;45;p9"/>
          <p:cNvSpPr txBox="1"/>
          <p:nvPr>
            <p:ph idx="1" type="subTitle"/>
          </p:nvPr>
        </p:nvSpPr>
        <p:spPr>
          <a:xfrm>
            <a:off x="265500" y="2769001"/>
            <a:ext cx="4045200" cy="1574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p:txBody>
      </p:sp>
      <p:sp>
        <p:nvSpPr>
          <p:cNvPr id="46" name="Google Shape;46;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7" name="Google Shape;47;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txBox="1"/>
          <p:nvPr>
            <p:ph idx="1" type="body"/>
          </p:nvPr>
        </p:nvSpPr>
        <p:spPr>
          <a:xfrm>
            <a:off x="319500" y="42189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p:txBody>
      </p:sp>
      <p:sp>
        <p:nvSpPr>
          <p:cNvPr id="50" name="Google Shape;50;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1"/>
          <p:cNvSpPr txBox="1"/>
          <p:nvPr>
            <p:ph hasCustomPrompt="1" type="title"/>
          </p:nvPr>
        </p:nvSpPr>
        <p:spPr>
          <a:xfrm>
            <a:off x="311700" y="957125"/>
            <a:ext cx="8520600" cy="2128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p:nvPr>
            <p:ph idx="1" type="body"/>
          </p:nvPr>
        </p:nvSpPr>
        <p:spPr>
          <a:xfrm>
            <a:off x="311700" y="316200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p:txBody>
      </p:sp>
      <p:sp>
        <p:nvSpPr>
          <p:cNvPr id="7" name="Google Shape;7;p1"/>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indent="-317500" lvl="1" marL="9144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indent="-317500" lvl="2" marL="13716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indent="-317500" lvl="3" marL="18288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indent="-317500" lvl="4" marL="22860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indent="-317500" lvl="5" marL="27432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indent="-317500" lvl="6" marL="32004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indent="-317500" lvl="7" marL="36576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indent="-317500" lvl="8" marL="41148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3"/>
          <p:cNvSpPr txBox="1"/>
          <p:nvPr>
            <p:ph type="ctrTitle"/>
          </p:nvPr>
        </p:nvSpPr>
        <p:spPr>
          <a:xfrm>
            <a:off x="3044700" y="1444255"/>
            <a:ext cx="3054600" cy="1537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2780"/>
              <a:t>Unveiling the Hidden: An Introduction to Hidden Markov Models (HMMs)</a:t>
            </a:r>
            <a:endParaRPr sz="2780"/>
          </a:p>
        </p:txBody>
      </p:sp>
      <p:sp>
        <p:nvSpPr>
          <p:cNvPr id="63" name="Google Shape;63;p13"/>
          <p:cNvSpPr txBox="1"/>
          <p:nvPr>
            <p:ph idx="1" type="subTitle"/>
          </p:nvPr>
        </p:nvSpPr>
        <p:spPr>
          <a:xfrm>
            <a:off x="3044700" y="3116575"/>
            <a:ext cx="3263100" cy="1181100"/>
          </a:xfrm>
          <a:prstGeom prst="rect">
            <a:avLst/>
          </a:prstGeom>
        </p:spPr>
        <p:txBody>
          <a:bodyPr anchorCtr="0" anchor="t" bIns="91425" lIns="91425" spcFirstLastPara="1" rIns="91425" wrap="square" tIns="91425">
            <a:normAutofit fontScale="92500" lnSpcReduction="20000"/>
          </a:bodyPr>
          <a:lstStyle/>
          <a:p>
            <a:pPr indent="0" lvl="0" marL="0" rtl="0" algn="ctr">
              <a:spcBef>
                <a:spcPts val="0"/>
              </a:spcBef>
              <a:spcAft>
                <a:spcPts val="0"/>
              </a:spcAft>
              <a:buNone/>
            </a:pPr>
            <a:r>
              <a:rPr lang="en"/>
              <a:t>Project Name:</a:t>
            </a:r>
            <a:br>
              <a:rPr lang="en"/>
            </a:br>
            <a:r>
              <a:rPr lang="en"/>
              <a:t>Faaraan Farid Kazi</a:t>
            </a:r>
            <a:endParaRPr/>
          </a:p>
          <a:p>
            <a:pPr indent="0" lvl="0" marL="0" rtl="0" algn="ctr">
              <a:spcBef>
                <a:spcPts val="0"/>
              </a:spcBef>
              <a:spcAft>
                <a:spcPts val="0"/>
              </a:spcAft>
              <a:buNone/>
            </a:pPr>
            <a:r>
              <a:rPr lang="en"/>
              <a:t>Shikshit Gupta </a:t>
            </a:r>
            <a:endParaRPr/>
          </a:p>
          <a:p>
            <a:pPr indent="0" lvl="0" marL="0" rtl="0" algn="ctr">
              <a:spcBef>
                <a:spcPts val="0"/>
              </a:spcBef>
              <a:spcAft>
                <a:spcPts val="0"/>
              </a:spcAft>
              <a:buNone/>
            </a:pPr>
            <a:r>
              <a:rPr lang="en"/>
              <a:t>Raj </a:t>
            </a:r>
            <a:r>
              <a:rPr lang="en"/>
              <a:t>Behera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Hidden States and Observable Outputs</a:t>
            </a:r>
            <a:endParaRPr/>
          </a:p>
        </p:txBody>
      </p:sp>
      <p:sp>
        <p:nvSpPr>
          <p:cNvPr id="69" name="Google Shape;69;p14"/>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68300" lvl="0" marL="457200" rtl="0" algn="l">
              <a:spcBef>
                <a:spcPts val="0"/>
              </a:spcBef>
              <a:spcAft>
                <a:spcPts val="0"/>
              </a:spcAft>
              <a:buSzPts val="2200"/>
              <a:buChar char="●"/>
            </a:pPr>
            <a:r>
              <a:rPr lang="en" sz="2200"/>
              <a:t>Hidden States: Represent underlying, unseen processes or conditions. (Think: Sunny, Rainy, Cloudy weather)</a:t>
            </a:r>
            <a:endParaRPr sz="2200"/>
          </a:p>
          <a:p>
            <a:pPr indent="-368300" lvl="0" marL="457200" rtl="0" algn="l">
              <a:spcBef>
                <a:spcPts val="0"/>
              </a:spcBef>
              <a:spcAft>
                <a:spcPts val="0"/>
              </a:spcAft>
              <a:buSzPts val="2200"/>
              <a:buChar char="●"/>
            </a:pPr>
            <a:r>
              <a:rPr lang="en" sz="2200"/>
              <a:t>Observable Outputs: Represent the data we can observe, influenced by the hidden states. (Think: Sunshine, Rain, Overcast sky)</a:t>
            </a:r>
            <a:endParaRPr sz="22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Core Components of an HMM</a:t>
            </a:r>
            <a:endParaRPr/>
          </a:p>
        </p:txBody>
      </p:sp>
      <p:sp>
        <p:nvSpPr>
          <p:cNvPr id="75" name="Google Shape;75;p15"/>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68300" lvl="0" marL="457200" rtl="0" algn="l">
              <a:spcBef>
                <a:spcPts val="0"/>
              </a:spcBef>
              <a:spcAft>
                <a:spcPts val="0"/>
              </a:spcAft>
              <a:buSzPts val="2200"/>
              <a:buChar char="●"/>
            </a:pPr>
            <a:r>
              <a:rPr lang="en" sz="2200"/>
              <a:t>Transition Probabilities: The likelihood of transitioning from one hidden state to another. (P(Sunny -&gt; Rainy))</a:t>
            </a:r>
            <a:endParaRPr sz="2200"/>
          </a:p>
          <a:p>
            <a:pPr indent="-368300" lvl="0" marL="457200" rtl="0" algn="l">
              <a:spcBef>
                <a:spcPts val="0"/>
              </a:spcBef>
              <a:spcAft>
                <a:spcPts val="0"/>
              </a:spcAft>
              <a:buSzPts val="2200"/>
              <a:buChar char="●"/>
            </a:pPr>
            <a:r>
              <a:rPr lang="en" sz="2200"/>
              <a:t>Emission Probabilities: The probability of emitting a specific observable output given a hidden state. (P(Sunshine | Sunny))</a:t>
            </a:r>
            <a:endParaRPr sz="2200"/>
          </a:p>
          <a:p>
            <a:pPr indent="-368300" lvl="0" marL="457200" rtl="0" algn="l">
              <a:spcBef>
                <a:spcPts val="0"/>
              </a:spcBef>
              <a:spcAft>
                <a:spcPts val="0"/>
              </a:spcAft>
              <a:buSzPts val="2200"/>
              <a:buChar char="●"/>
            </a:pPr>
            <a:r>
              <a:rPr lang="en" sz="2200"/>
              <a:t>Initial State Distribution: The probability of each hidden state being the starting state. (P(Sunny) at the beginnin</a:t>
            </a:r>
            <a:endParaRPr sz="22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Illustrative Example: Weather Prediction</a:t>
            </a:r>
            <a:endParaRPr/>
          </a:p>
        </p:txBody>
      </p:sp>
      <p:sp>
        <p:nvSpPr>
          <p:cNvPr id="81" name="Google Shape;81;p16"/>
          <p:cNvSpPr txBox="1"/>
          <p:nvPr>
            <p:ph idx="1" type="body"/>
          </p:nvPr>
        </p:nvSpPr>
        <p:spPr>
          <a:xfrm>
            <a:off x="311700" y="1225225"/>
            <a:ext cx="8520600" cy="3354000"/>
          </a:xfrm>
          <a:prstGeom prst="rect">
            <a:avLst/>
          </a:prstGeom>
        </p:spPr>
        <p:txBody>
          <a:bodyPr anchorCtr="0" anchor="t" bIns="91425" lIns="91425" spcFirstLastPara="1" rIns="91425" wrap="square" tIns="91425">
            <a:normAutofit fontScale="85000" lnSpcReduction="10000"/>
          </a:bodyPr>
          <a:lstStyle/>
          <a:p>
            <a:pPr indent="-347345" lvl="0" marL="457200" rtl="0" algn="l">
              <a:spcBef>
                <a:spcPts val="0"/>
              </a:spcBef>
              <a:spcAft>
                <a:spcPts val="0"/>
              </a:spcAft>
              <a:buSzPct val="100000"/>
              <a:buChar char="●"/>
            </a:pPr>
            <a:r>
              <a:rPr lang="en" sz="2200"/>
              <a:t>Let's use HMMs to predict the weather sequence (Sunny, Rainy, Cloudy) for tomorrow.</a:t>
            </a:r>
            <a:endParaRPr sz="2200"/>
          </a:p>
          <a:p>
            <a:pPr indent="-347345" lvl="0" marL="457200" rtl="0" algn="l">
              <a:spcBef>
                <a:spcPts val="0"/>
              </a:spcBef>
              <a:spcAft>
                <a:spcPts val="0"/>
              </a:spcAft>
              <a:buSzPct val="100000"/>
              <a:buChar char="●"/>
            </a:pPr>
            <a:r>
              <a:rPr lang="en" sz="2200"/>
              <a:t>Hidden States: Sunny (S), Rainy (R), Cloudy (C)</a:t>
            </a:r>
            <a:endParaRPr sz="2200"/>
          </a:p>
          <a:p>
            <a:pPr indent="-347345" lvl="0" marL="457200" rtl="0" algn="l">
              <a:spcBef>
                <a:spcPts val="0"/>
              </a:spcBef>
              <a:spcAft>
                <a:spcPts val="0"/>
              </a:spcAft>
              <a:buSzPct val="100000"/>
              <a:buChar char="●"/>
            </a:pPr>
            <a:r>
              <a:rPr lang="en" sz="2200"/>
              <a:t>Observable Outputs: Sunshine (Sun), Rain (Rain), Overcast (Overcast)</a:t>
            </a:r>
            <a:endParaRPr sz="2200"/>
          </a:p>
          <a:p>
            <a:pPr indent="-347345" lvl="0" marL="457200" rtl="0" algn="l">
              <a:spcBef>
                <a:spcPts val="0"/>
              </a:spcBef>
              <a:spcAft>
                <a:spcPts val="0"/>
              </a:spcAft>
              <a:buSzPct val="100000"/>
              <a:buChar char="●"/>
            </a:pPr>
            <a:r>
              <a:rPr lang="en" sz="2200"/>
              <a:t>We can estimate transition probabilities based on historical weather data.</a:t>
            </a:r>
            <a:endParaRPr sz="2200"/>
          </a:p>
          <a:p>
            <a:pPr indent="-347345" lvl="0" marL="457200" rtl="0" algn="l">
              <a:spcBef>
                <a:spcPts val="0"/>
              </a:spcBef>
              <a:spcAft>
                <a:spcPts val="0"/>
              </a:spcAft>
              <a:buSzPct val="100000"/>
              <a:buChar char="●"/>
            </a:pPr>
            <a:r>
              <a:rPr lang="en" sz="2200"/>
              <a:t>Emission probabilities reflect the likelihood of observing sunshine on a sunny day, rain on a rainy day, etc.</a:t>
            </a:r>
            <a:endParaRPr sz="2200"/>
          </a:p>
          <a:p>
            <a:pPr indent="-347345" lvl="0" marL="457200" rtl="0" algn="l">
              <a:spcBef>
                <a:spcPts val="0"/>
              </a:spcBef>
              <a:spcAft>
                <a:spcPts val="0"/>
              </a:spcAft>
              <a:buSzPct val="100000"/>
              <a:buChar char="●"/>
            </a:pPr>
            <a:r>
              <a:rPr lang="en" sz="2200"/>
              <a:t>HMMs allow us to calculate the probability of specific weather sequences and predict the most likely weather for tomorrow.</a:t>
            </a:r>
            <a:endParaRPr sz="22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Essential HMM Algorithms</a:t>
            </a:r>
            <a:endParaRPr/>
          </a:p>
        </p:txBody>
      </p:sp>
      <p:sp>
        <p:nvSpPr>
          <p:cNvPr id="87" name="Google Shape;87;p17"/>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400050" lvl="0" marL="457200" rtl="0" algn="l">
              <a:spcBef>
                <a:spcPts val="0"/>
              </a:spcBef>
              <a:spcAft>
                <a:spcPts val="0"/>
              </a:spcAft>
              <a:buSzPts val="2700"/>
              <a:buChar char="●"/>
            </a:pPr>
            <a:r>
              <a:rPr lang="en" sz="2700"/>
              <a:t>Forward Algorithm</a:t>
            </a:r>
            <a:endParaRPr sz="2700"/>
          </a:p>
          <a:p>
            <a:pPr indent="-400050" lvl="0" marL="457200" rtl="0" algn="l">
              <a:spcBef>
                <a:spcPts val="0"/>
              </a:spcBef>
              <a:spcAft>
                <a:spcPts val="0"/>
              </a:spcAft>
              <a:buSzPts val="2700"/>
              <a:buChar char="●"/>
            </a:pPr>
            <a:r>
              <a:rPr lang="en" sz="2700"/>
              <a:t>Viterbi Algorithm</a:t>
            </a:r>
            <a:endParaRPr sz="2700"/>
          </a:p>
          <a:p>
            <a:pPr indent="-400050" lvl="0" marL="457200" rtl="0" algn="l">
              <a:spcBef>
                <a:spcPts val="0"/>
              </a:spcBef>
              <a:spcAft>
                <a:spcPts val="0"/>
              </a:spcAft>
              <a:buSzPts val="2700"/>
              <a:buChar char="●"/>
            </a:pPr>
            <a:r>
              <a:rPr lang="en" sz="2700"/>
              <a:t>Baum-Welch Algorithm (Forward-Backward)</a:t>
            </a:r>
            <a:endParaRPr sz="2700"/>
          </a:p>
          <a:p>
            <a:pPr indent="0" lvl="0" marL="457200" rtl="0" algn="l">
              <a:spcBef>
                <a:spcPts val="1200"/>
              </a:spcBef>
              <a:spcAft>
                <a:spcPts val="1200"/>
              </a:spcAft>
              <a:buNone/>
            </a:pPr>
            <a:r>
              <a:t/>
            </a:r>
            <a:endParaRPr sz="27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Forward Algorithm</a:t>
            </a:r>
            <a:endParaRPr/>
          </a:p>
        </p:txBody>
      </p:sp>
      <p:sp>
        <p:nvSpPr>
          <p:cNvPr id="93" name="Google Shape;93;p18"/>
          <p:cNvSpPr txBox="1"/>
          <p:nvPr>
            <p:ph idx="1" type="body"/>
          </p:nvPr>
        </p:nvSpPr>
        <p:spPr>
          <a:xfrm>
            <a:off x="311700" y="1225225"/>
            <a:ext cx="8520600" cy="3354000"/>
          </a:xfrm>
          <a:prstGeom prst="rect">
            <a:avLst/>
          </a:prstGeom>
        </p:spPr>
        <p:txBody>
          <a:bodyPr anchorCtr="0" anchor="t" bIns="91425" lIns="91425" spcFirstLastPara="1" rIns="91425" wrap="square" tIns="91425">
            <a:normAutofit lnSpcReduction="10000"/>
          </a:bodyPr>
          <a:lstStyle/>
          <a:p>
            <a:pPr indent="-368300" lvl="0" marL="457200" rtl="0" algn="l">
              <a:spcBef>
                <a:spcPts val="0"/>
              </a:spcBef>
              <a:spcAft>
                <a:spcPts val="0"/>
              </a:spcAft>
              <a:buSzPts val="2200"/>
              <a:buChar char="●"/>
            </a:pPr>
            <a:r>
              <a:rPr lang="en" sz="2200"/>
              <a:t>Calculates the probability of an observation sequence (O1, O2, ..., On) given a model (defined by transition probabilities, emission probabilities, and initial state probabilities).</a:t>
            </a:r>
            <a:endParaRPr sz="2200"/>
          </a:p>
          <a:p>
            <a:pPr indent="-368300" lvl="0" marL="457200" rtl="0" algn="l">
              <a:spcBef>
                <a:spcPts val="0"/>
              </a:spcBef>
              <a:spcAft>
                <a:spcPts val="0"/>
              </a:spcAft>
              <a:buSzPts val="2200"/>
              <a:buChar char="●"/>
            </a:pPr>
            <a:r>
              <a:rPr lang="en" sz="2200"/>
              <a:t>Uses a dynamic programming approach, iteratively computing the forward probability for each state at each time step.</a:t>
            </a:r>
            <a:endParaRPr sz="2200"/>
          </a:p>
          <a:p>
            <a:pPr indent="-368300" lvl="0" marL="457200" rtl="0" algn="l">
              <a:spcBef>
                <a:spcPts val="0"/>
              </a:spcBef>
              <a:spcAft>
                <a:spcPts val="0"/>
              </a:spcAft>
              <a:buSzPts val="2200"/>
              <a:buChar char="●"/>
            </a:pPr>
            <a:r>
              <a:rPr lang="en" sz="2200"/>
              <a:t>The forward probability represents the probability of being in a specific state at a given time step and having observed the sequence up to that point.</a:t>
            </a:r>
            <a:endParaRPr sz="22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9"/>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Viterbi Algorithm</a:t>
            </a:r>
            <a:endParaRPr/>
          </a:p>
        </p:txBody>
      </p:sp>
      <p:sp>
        <p:nvSpPr>
          <p:cNvPr id="99" name="Google Shape;99;p19"/>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68300" lvl="0" marL="457200" rtl="0" algn="l">
              <a:spcBef>
                <a:spcPts val="0"/>
              </a:spcBef>
              <a:spcAft>
                <a:spcPts val="0"/>
              </a:spcAft>
              <a:buSzPts val="2200"/>
              <a:buChar char="●"/>
            </a:pPr>
            <a:r>
              <a:rPr lang="en" sz="2200"/>
              <a:t>Finds the most likely sequence of hidden states (S1, S2, ..., Sn) that generated a given observation sequence (O1, O2, ..., On).</a:t>
            </a:r>
            <a:endParaRPr sz="2200"/>
          </a:p>
          <a:p>
            <a:pPr indent="-368300" lvl="0" marL="457200" rtl="0" algn="l">
              <a:spcBef>
                <a:spcPts val="0"/>
              </a:spcBef>
              <a:spcAft>
                <a:spcPts val="0"/>
              </a:spcAft>
              <a:buSzPts val="2200"/>
              <a:buChar char="●"/>
            </a:pPr>
            <a:r>
              <a:rPr lang="en" sz="2200"/>
              <a:t>Similar to the Forward Algorithm, it uses a dynamic programming approach but keeps track of the path with the highest probability at each time step.</a:t>
            </a:r>
            <a:endParaRPr sz="2200"/>
          </a:p>
          <a:p>
            <a:pPr indent="-368300" lvl="0" marL="457200" rtl="0" algn="l">
              <a:spcBef>
                <a:spcPts val="0"/>
              </a:spcBef>
              <a:spcAft>
                <a:spcPts val="0"/>
              </a:spcAft>
              <a:buSzPts val="2200"/>
              <a:buChar char="●"/>
            </a:pPr>
            <a:r>
              <a:rPr lang="en" sz="2200"/>
              <a:t>The Viterbi path represents the most probable sequence of hidden states that explains the observed sequence.</a:t>
            </a:r>
            <a:endParaRPr sz="22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Baum-Welch Algorithm (Forward-Backward)</a:t>
            </a:r>
            <a:endParaRPr/>
          </a:p>
        </p:txBody>
      </p:sp>
      <p:sp>
        <p:nvSpPr>
          <p:cNvPr id="105" name="Google Shape;105;p20"/>
          <p:cNvSpPr txBox="1"/>
          <p:nvPr>
            <p:ph idx="1" type="body"/>
          </p:nvPr>
        </p:nvSpPr>
        <p:spPr>
          <a:xfrm>
            <a:off x="311700" y="1225225"/>
            <a:ext cx="8520600" cy="3354000"/>
          </a:xfrm>
          <a:prstGeom prst="rect">
            <a:avLst/>
          </a:prstGeom>
        </p:spPr>
        <p:txBody>
          <a:bodyPr anchorCtr="0" anchor="t" bIns="91425" lIns="91425" spcFirstLastPara="1" rIns="91425" wrap="square" tIns="91425">
            <a:normAutofit fontScale="92500" lnSpcReduction="20000"/>
          </a:bodyPr>
          <a:lstStyle/>
          <a:p>
            <a:pPr indent="-357822" lvl="0" marL="457200" rtl="0" algn="l">
              <a:spcBef>
                <a:spcPts val="0"/>
              </a:spcBef>
              <a:spcAft>
                <a:spcPts val="0"/>
              </a:spcAft>
              <a:buSzPct val="100000"/>
              <a:buChar char="●"/>
            </a:pPr>
            <a:r>
              <a:rPr lang="en" sz="2200"/>
              <a:t>Used for parameter estimation in HMMs.</a:t>
            </a:r>
            <a:endParaRPr sz="2200"/>
          </a:p>
          <a:p>
            <a:pPr indent="-357822" lvl="0" marL="457200" rtl="0" algn="l">
              <a:spcBef>
                <a:spcPts val="0"/>
              </a:spcBef>
              <a:spcAft>
                <a:spcPts val="0"/>
              </a:spcAft>
              <a:buSzPct val="100000"/>
              <a:buChar char="●"/>
            </a:pPr>
            <a:r>
              <a:rPr lang="en" sz="2200"/>
              <a:t>It is an iterative algorithm that relies on both the Forward Algorithm and a Backward Algorithm (not covered here but complementary to Forward).</a:t>
            </a:r>
            <a:endParaRPr sz="2200"/>
          </a:p>
          <a:p>
            <a:pPr indent="-357822" lvl="0" marL="457200" rtl="0" algn="l">
              <a:spcBef>
                <a:spcPts val="0"/>
              </a:spcBef>
              <a:spcAft>
                <a:spcPts val="0"/>
              </a:spcAft>
              <a:buSzPct val="100000"/>
              <a:buChar char="●"/>
            </a:pPr>
            <a:r>
              <a:rPr lang="en" sz="2200"/>
              <a:t>The algorithm estimates the transition probabilities, emission probabilities, and initial state probabilities of the HMM by maximizing the expected log-likelihood of the observed data.</a:t>
            </a:r>
            <a:endParaRPr sz="2200"/>
          </a:p>
          <a:p>
            <a:pPr indent="-357822" lvl="0" marL="457200" rtl="0" algn="l">
              <a:spcBef>
                <a:spcPts val="0"/>
              </a:spcBef>
              <a:spcAft>
                <a:spcPts val="0"/>
              </a:spcAft>
              <a:buSzPct val="100000"/>
              <a:buChar char="●"/>
            </a:pPr>
            <a:r>
              <a:rPr lang="en" sz="2200"/>
              <a:t>Each iteration involves calculating expected counts of state transitions and emissions using the Forward and Backward probabilities.</a:t>
            </a:r>
            <a:endParaRPr sz="22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1"/>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HMMs in Speech Recognition</a:t>
            </a:r>
            <a:endParaRPr/>
          </a:p>
        </p:txBody>
      </p:sp>
      <p:sp>
        <p:nvSpPr>
          <p:cNvPr id="111" name="Google Shape;111;p21"/>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68300" lvl="0" marL="457200" rtl="0" algn="l">
              <a:spcBef>
                <a:spcPts val="0"/>
              </a:spcBef>
              <a:spcAft>
                <a:spcPts val="0"/>
              </a:spcAft>
              <a:buSzPts val="2200"/>
              <a:buChar char="●"/>
            </a:pPr>
            <a:r>
              <a:rPr lang="en" sz="2200"/>
              <a:t>Speech signal is preprocessed to extract features (e.g., Mel-frequency cepstral coefficients).</a:t>
            </a:r>
            <a:endParaRPr sz="2200"/>
          </a:p>
          <a:p>
            <a:pPr indent="-368300" lvl="0" marL="457200" rtl="0" algn="l">
              <a:spcBef>
                <a:spcPts val="0"/>
              </a:spcBef>
              <a:spcAft>
                <a:spcPts val="0"/>
              </a:spcAft>
              <a:buSzPts val="2200"/>
              <a:buChar char="●"/>
            </a:pPr>
            <a:r>
              <a:rPr lang="en" sz="2200"/>
              <a:t>An HMM is built for each phoneme in the language.</a:t>
            </a:r>
            <a:endParaRPr sz="2200"/>
          </a:p>
          <a:p>
            <a:pPr indent="-368300" lvl="0" marL="457200" rtl="0" algn="l">
              <a:spcBef>
                <a:spcPts val="0"/>
              </a:spcBef>
              <a:spcAft>
                <a:spcPts val="0"/>
              </a:spcAft>
              <a:buSzPts val="2200"/>
              <a:buChar char="●"/>
            </a:pPr>
            <a:r>
              <a:rPr lang="en" sz="2200"/>
              <a:t>The features are fed into the HMMs to calculate the probability of each phoneme sequence generating the observed features.</a:t>
            </a:r>
            <a:endParaRPr sz="2200"/>
          </a:p>
          <a:p>
            <a:pPr indent="-368300" lvl="0" marL="457200" rtl="0" algn="l">
              <a:spcBef>
                <a:spcPts val="0"/>
              </a:spcBef>
              <a:spcAft>
                <a:spcPts val="0"/>
              </a:spcAft>
              <a:buSzPts val="2200"/>
              <a:buChar char="●"/>
            </a:pPr>
            <a:r>
              <a:rPr lang="en" sz="2200"/>
              <a:t>The most likely phoneme sequence is decoded back into words.</a:t>
            </a:r>
            <a:endParaRPr sz="22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lang="en" sz="3580"/>
              <a:t>Challenges and Limitations of HMMs in Speech Recognition</a:t>
            </a:r>
            <a:endParaRPr sz="3580"/>
          </a:p>
        </p:txBody>
      </p:sp>
      <p:sp>
        <p:nvSpPr>
          <p:cNvPr id="117" name="Google Shape;117;p22"/>
          <p:cNvSpPr txBox="1"/>
          <p:nvPr>
            <p:ph idx="1" type="body"/>
          </p:nvPr>
        </p:nvSpPr>
        <p:spPr>
          <a:xfrm>
            <a:off x="311700" y="1225225"/>
            <a:ext cx="8520600" cy="3354000"/>
          </a:xfrm>
          <a:prstGeom prst="rect">
            <a:avLst/>
          </a:prstGeom>
        </p:spPr>
        <p:txBody>
          <a:bodyPr anchorCtr="0" anchor="t" bIns="91425" lIns="91425" spcFirstLastPara="1" rIns="91425" wrap="square" tIns="91425">
            <a:normAutofit fontScale="92500" lnSpcReduction="20000"/>
          </a:bodyPr>
          <a:lstStyle/>
          <a:p>
            <a:pPr indent="-357822" lvl="0" marL="457200" rtl="0" algn="l">
              <a:spcBef>
                <a:spcPts val="0"/>
              </a:spcBef>
              <a:spcAft>
                <a:spcPts val="0"/>
              </a:spcAft>
              <a:buSzPct val="100000"/>
              <a:buChar char="●"/>
            </a:pPr>
            <a:r>
              <a:rPr lang="en" sz="2200"/>
              <a:t>Limited ability to model coarticulation: Speech sounds are not produced in isolation; neighboring sounds influence each other. HMMs can struggle to capture these complex dependencies.</a:t>
            </a:r>
            <a:endParaRPr sz="2200"/>
          </a:p>
          <a:p>
            <a:pPr indent="-357822" lvl="0" marL="457200" rtl="0" algn="l">
              <a:spcBef>
                <a:spcPts val="0"/>
              </a:spcBef>
              <a:spcAft>
                <a:spcPts val="0"/>
              </a:spcAft>
              <a:buSzPct val="100000"/>
              <a:buChar char="●"/>
            </a:pPr>
            <a:r>
              <a:rPr lang="en" sz="2200"/>
              <a:t>Background noise: HMMs can be sensitive to background noise, which can interfere with the accuracy of speech recognition.</a:t>
            </a:r>
            <a:endParaRPr sz="2200"/>
          </a:p>
          <a:p>
            <a:pPr indent="-357822" lvl="0" marL="457200" rtl="0" algn="l">
              <a:spcBef>
                <a:spcPts val="0"/>
              </a:spcBef>
              <a:spcAft>
                <a:spcPts val="0"/>
              </a:spcAft>
              <a:buSzPct val="100000"/>
              <a:buChar char="●"/>
            </a:pPr>
            <a:r>
              <a:rPr lang="en" sz="2200"/>
              <a:t>Speaker variability: Speech patterns vary significantly between individuals. HMMs may need to be adapted to handle different speakers effectively.</a:t>
            </a:r>
            <a:endParaRPr sz="2200"/>
          </a:p>
          <a:p>
            <a:pPr indent="-357822" lvl="0" marL="457200" rtl="0" algn="l">
              <a:spcBef>
                <a:spcPts val="0"/>
              </a:spcBef>
              <a:spcAft>
                <a:spcPts val="0"/>
              </a:spcAft>
              <a:buSzPct val="100000"/>
              <a:buChar char="●"/>
            </a:pPr>
            <a:r>
              <a:rPr lang="en" sz="2200"/>
              <a:t>Limited vocabulary size: The accuracy of HMM-based speech recognition systems can decrease with larger vocabularies.</a:t>
            </a:r>
            <a:endParaRPr sz="22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3"/>
          <p:cNvSpPr txBox="1"/>
          <p:nvPr>
            <p:ph type="title"/>
          </p:nvPr>
        </p:nvSpPr>
        <p:spPr>
          <a:xfrm>
            <a:off x="1003650" y="984300"/>
            <a:ext cx="7136700" cy="31749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5700"/>
              <a:t>Thank You</a:t>
            </a:r>
            <a:endParaRPr sz="5700"/>
          </a:p>
        </p:txBody>
      </p:sp>
    </p:spTree>
  </p:cSld>
  <p:clrMapOvr>
    <a:masterClrMapping/>
  </p:clrMapOvr>
</p:sld>
</file>

<file path=ppt/theme/theme1.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