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In this presentation, we will explore the world of Bayesian Networks (BNs), a powerful tool in artificial intelligence used to model uncertainties and make predictions. We will delve into their components, construction, and applications, and explore the exciting areas where BNs are making a difference.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0cf907ed4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c0cf907ed4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Bayesian Networks are a type of probabilistic graphical model. They use a graphical structure to represent the relationships between variables in a system. Unlike traditional models, BNs excel at handling uncertainty, making them ideal for situations where complete information is not available. This allows us to reason about the system and make predictions even when faced with incomplete data.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c0cf907ed4_0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c0cf907ed4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Conditional probability is a fundamental concept in BNs. It represents the likelihood of one event (B) happening, considering that another event (A) has already taken place. For example, the probability of it raining (B) given that there are dark clouds (A) is different from the probability of raining without considering the clouds. BNs leverage conditional probability to model the relationships between variables.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c0cf907ed4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c0cf907ed4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The building blocks of BNs are nodes and edges. Nodes represent the variables in the system we are interested in, such as weather, sprinkler, or grass wet. Edges, depicted as directed arrows, represent the conditional dependencies between these variables. An arrow from node A to node B indicates that the state of A influences the probability of the state of B.</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c0cf907ed4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c0cf907ed4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None/>
            </a:pPr>
            <a:r>
              <a:rPr lang="en"/>
              <a:t>Conditional probability tables (CPTs) are the heart of BNs. Each node in a BN has its own CPT, which stores the conditional probability of that node being in a specific state given the combinations of states of its parent nodes (nodes with arrows pointing towards it). These tables essentially capture the strength and direction of the relationships between variables in the network.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c0cf907ed4_0_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c0cf907ed4_0_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Speaker Notes</a:t>
            </a:r>
            <a:endParaRPr/>
          </a:p>
          <a:p>
            <a:pPr indent="0" lvl="0" marL="0" rtl="0" algn="l">
              <a:spcBef>
                <a:spcPts val="0"/>
              </a:spcBef>
              <a:spcAft>
                <a:spcPts val="0"/>
              </a:spcAft>
              <a:buClr>
                <a:schemeClr val="dk1"/>
              </a:buClr>
              <a:buSzPts val="1100"/>
              <a:buFont typeface="Arial"/>
              <a:buNone/>
            </a:pPr>
            <a:r>
              <a:rPr lang="en"/>
              <a:t>Constructing a BN involves a three-step process: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Identifying relevant variables: This involves pinpointing the key factors that influence the system we are modeling.</a:t>
            </a:r>
            <a:endParaRPr/>
          </a:p>
          <a:p>
            <a:pPr indent="0" lvl="0" marL="0" rtl="0" algn="l">
              <a:spcBef>
                <a:spcPts val="0"/>
              </a:spcBef>
              <a:spcAft>
                <a:spcPts val="0"/>
              </a:spcAft>
              <a:buClr>
                <a:schemeClr val="dk1"/>
              </a:buClr>
              <a:buSzPts val="1100"/>
              <a:buFont typeface="Arial"/>
              <a:buNone/>
            </a:pPr>
            <a:r>
              <a:rPr lang="en"/>
              <a:t>Specifying conditional dependencies: We then determine how these variables relate to each other, establishing the directed dependencies using arrows in the network.</a:t>
            </a:r>
            <a:endParaRPr/>
          </a:p>
          <a:p>
            <a:pPr indent="0" lvl="0" marL="0" rtl="0" algn="l">
              <a:spcBef>
                <a:spcPts val="0"/>
              </a:spcBef>
              <a:spcAft>
                <a:spcPts val="0"/>
              </a:spcAft>
              <a:buNone/>
            </a:pPr>
            <a:r>
              <a:rPr lang="en"/>
              <a:t>Quantifying conditional probabilities: Finally, we populate the CPTs with the conditional probabilities of each node given the states of its parent nodes. This information can be obtained from expert knowledge or data analysis.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0cf907ed4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c0cf907ed4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0cf907ed4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c0cf907ed4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c0cf839b3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c0cf839b3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c0cf7da8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c0cf7da8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a:t>
            </a:r>
            <a:r>
              <a:rPr lang="en"/>
              <a:t>n</a:t>
            </a:r>
            <a:r>
              <a:rPr lang="en"/>
              <a:t>derstanding Bayesian Networks</a:t>
            </a:r>
            <a:endParaRPr/>
          </a:p>
        </p:txBody>
      </p:sp>
      <p:sp>
        <p:nvSpPr>
          <p:cNvPr id="135" name="Google Shape;135;p13"/>
          <p:cNvSpPr txBox="1"/>
          <p:nvPr>
            <p:ph idx="1" type="subTitle"/>
          </p:nvPr>
        </p:nvSpPr>
        <p:spPr>
          <a:xfrm>
            <a:off x="5083950" y="3690700"/>
            <a:ext cx="3672000" cy="12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Project Member:</a:t>
            </a:r>
            <a:br>
              <a:rPr lang="en">
                <a:latin typeface="Montserrat"/>
                <a:ea typeface="Montserrat"/>
                <a:cs typeface="Montserrat"/>
                <a:sym typeface="Montserrat"/>
              </a:rPr>
            </a:br>
            <a:r>
              <a:rPr lang="en">
                <a:latin typeface="Montserrat"/>
                <a:ea typeface="Montserrat"/>
                <a:cs typeface="Montserrat"/>
                <a:sym typeface="Montserrat"/>
              </a:rPr>
              <a:t>1) Faaraan Farid Kazi</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2) Shikshit Gupta</a:t>
            </a:r>
            <a:endParaRPr>
              <a:latin typeface="Montserrat"/>
              <a:ea typeface="Montserrat"/>
              <a:cs typeface="Montserrat"/>
              <a:sym typeface="Montserrat"/>
            </a:endParaRPr>
          </a:p>
          <a:p>
            <a:pPr indent="0" lvl="0" marL="0" rtl="0" algn="l">
              <a:spcBef>
                <a:spcPts val="0"/>
              </a:spcBef>
              <a:spcAft>
                <a:spcPts val="0"/>
              </a:spcAft>
              <a:buNone/>
            </a:pPr>
            <a:r>
              <a:rPr lang="en">
                <a:latin typeface="Montserrat"/>
                <a:ea typeface="Montserrat"/>
                <a:cs typeface="Montserrat"/>
                <a:sym typeface="Montserrat"/>
              </a:rPr>
              <a:t>3) Rajendra </a:t>
            </a:r>
            <a:r>
              <a:rPr lang="en">
                <a:latin typeface="Montserrat"/>
                <a:ea typeface="Montserrat"/>
                <a:cs typeface="Montserrat"/>
                <a:sym typeface="Montserrat"/>
              </a:rPr>
              <a:t>Behera</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What are Bayesian Networks?</a:t>
            </a:r>
            <a:endParaRPr sz="2600"/>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Probabilistic graphical models that represent relationships between variables</a:t>
            </a:r>
            <a:endParaRPr sz="1900"/>
          </a:p>
          <a:p>
            <a:pPr indent="-349250" lvl="0" marL="457200" rtl="0" algn="l">
              <a:spcBef>
                <a:spcPts val="0"/>
              </a:spcBef>
              <a:spcAft>
                <a:spcPts val="0"/>
              </a:spcAft>
              <a:buSzPts val="1900"/>
              <a:buChar char="●"/>
            </a:pPr>
            <a:r>
              <a:rPr lang="en" sz="1900"/>
              <a:t>Used to model uncertainty in complex systems</a:t>
            </a:r>
            <a:endParaRPr sz="1900"/>
          </a:p>
          <a:p>
            <a:pPr indent="-349250" lvl="0" marL="457200" rtl="0" algn="l">
              <a:spcBef>
                <a:spcPts val="0"/>
              </a:spcBef>
              <a:spcAft>
                <a:spcPts val="0"/>
              </a:spcAft>
              <a:buSzPts val="1900"/>
              <a:buChar char="●"/>
            </a:pPr>
            <a:r>
              <a:rPr lang="en" sz="1900"/>
              <a:t>Enable reasoning and prediction under uncertainty</a:t>
            </a:r>
            <a:endParaRPr sz="1900"/>
          </a:p>
          <a:p>
            <a:pPr indent="0" lvl="0" marL="457200" rtl="0" algn="l">
              <a:spcBef>
                <a:spcPts val="1200"/>
              </a:spcBef>
              <a:spcAft>
                <a:spcPts val="1200"/>
              </a:spcAft>
              <a:buNone/>
            </a:pPr>
            <a:r>
              <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 Conditional Probability</a:t>
            </a:r>
            <a:endParaRPr sz="2600"/>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The probability of an event occurring given another event has already occurred</a:t>
            </a:r>
            <a:endParaRPr sz="1900"/>
          </a:p>
          <a:p>
            <a:pPr indent="-349250" lvl="0" marL="457200" rtl="0" algn="l">
              <a:spcBef>
                <a:spcPts val="0"/>
              </a:spcBef>
              <a:spcAft>
                <a:spcPts val="0"/>
              </a:spcAft>
              <a:buSzPts val="1900"/>
              <a:buChar char="●"/>
            </a:pPr>
            <a:r>
              <a:rPr lang="en" sz="1900"/>
              <a:t>Represented by P(B|A), where:</a:t>
            </a:r>
            <a:endParaRPr sz="1900"/>
          </a:p>
          <a:p>
            <a:pPr indent="-349250" lvl="1" marL="914400" rtl="0" algn="l">
              <a:spcBef>
                <a:spcPts val="0"/>
              </a:spcBef>
              <a:spcAft>
                <a:spcPts val="0"/>
              </a:spcAft>
              <a:buSzPts val="1900"/>
              <a:buChar char="○"/>
            </a:pPr>
            <a:r>
              <a:rPr lang="en" sz="1900"/>
              <a:t>B is the dependent event</a:t>
            </a:r>
            <a:endParaRPr sz="1900"/>
          </a:p>
          <a:p>
            <a:pPr indent="-349250" lvl="1" marL="914400" rtl="0" algn="l">
              <a:spcBef>
                <a:spcPts val="0"/>
              </a:spcBef>
              <a:spcAft>
                <a:spcPts val="0"/>
              </a:spcAft>
              <a:buSzPts val="1900"/>
              <a:buChar char="○"/>
            </a:pPr>
            <a:r>
              <a:rPr lang="en" sz="1900"/>
              <a:t>A is the independent event</a:t>
            </a:r>
            <a:endParaRPr sz="1900"/>
          </a:p>
          <a:p>
            <a:pPr indent="0" lvl="0" marL="0" rtl="0" algn="l">
              <a:spcBef>
                <a:spcPts val="1200"/>
              </a:spcBef>
              <a:spcAft>
                <a:spcPts val="0"/>
              </a:spcAft>
              <a:buNone/>
            </a:pPr>
            <a:r>
              <a:t/>
            </a:r>
            <a:endParaRPr sz="1900"/>
          </a:p>
          <a:p>
            <a:pPr indent="0" lvl="0" marL="0" rtl="0" algn="l">
              <a:spcBef>
                <a:spcPts val="1200"/>
              </a:spcBef>
              <a:spcAft>
                <a:spcPts val="1200"/>
              </a:spcAft>
              <a:buNone/>
            </a:pPr>
            <a:r>
              <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Components of Bayesian Networks</a:t>
            </a:r>
            <a:endParaRPr sz="2600"/>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Nodes: Represent variables in the system (e.g., weather, sprinkler, grass wet)</a:t>
            </a:r>
            <a:endParaRPr sz="1900"/>
          </a:p>
          <a:p>
            <a:pPr indent="-349250" lvl="0" marL="457200" rtl="0" algn="l">
              <a:spcBef>
                <a:spcPts val="0"/>
              </a:spcBef>
              <a:spcAft>
                <a:spcPts val="0"/>
              </a:spcAft>
              <a:buSzPts val="1900"/>
              <a:buChar char="●"/>
            </a:pPr>
            <a:r>
              <a:rPr lang="en" sz="1900"/>
              <a:t>Edges: Represent conditional dependencies between variables (directed arrows)</a:t>
            </a:r>
            <a:endParaRPr sz="1900"/>
          </a:p>
          <a:p>
            <a:pPr indent="0" lvl="0" marL="0" rtl="0" algn="l">
              <a:spcBef>
                <a:spcPts val="1200"/>
              </a:spcBef>
              <a:spcAft>
                <a:spcPts val="1200"/>
              </a:spcAft>
              <a:buNone/>
            </a:pPr>
            <a:r>
              <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Conditional Probability Tables (CPTs)</a:t>
            </a:r>
            <a:endParaRPr sz="2600"/>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marR="0" rtl="0" algn="l">
              <a:lnSpc>
                <a:spcPct val="115000"/>
              </a:lnSpc>
              <a:spcBef>
                <a:spcPts val="0"/>
              </a:spcBef>
              <a:spcAft>
                <a:spcPts val="0"/>
              </a:spcAft>
              <a:buSzPts val="1900"/>
              <a:buChar char="●"/>
            </a:pPr>
            <a:r>
              <a:rPr lang="en" sz="1900"/>
              <a:t>Tables that store the conditional probability of each node given the states of its parent nodes</a:t>
            </a:r>
            <a:endParaRPr sz="1900"/>
          </a:p>
          <a:p>
            <a:pPr indent="-349250" lvl="0" marL="457200" marR="0" rtl="0" algn="l">
              <a:lnSpc>
                <a:spcPct val="115000"/>
              </a:lnSpc>
              <a:spcBef>
                <a:spcPts val="0"/>
              </a:spcBef>
              <a:spcAft>
                <a:spcPts val="0"/>
              </a:spcAft>
              <a:buSzPts val="1900"/>
              <a:buChar char="●"/>
            </a:pPr>
            <a:r>
              <a:rPr lang="en" sz="1900"/>
              <a:t>Capture the strength of the relationships between variables</a:t>
            </a:r>
            <a:endParaRPr sz="1900"/>
          </a:p>
          <a:p>
            <a:pPr indent="0" lvl="0" marL="0" rtl="0" algn="l">
              <a:spcBef>
                <a:spcPts val="1200"/>
              </a:spcBef>
              <a:spcAft>
                <a:spcPts val="1200"/>
              </a:spcAft>
              <a:buNone/>
            </a:pPr>
            <a:r>
              <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Constructing a Bayesian Network</a:t>
            </a:r>
            <a:endParaRPr sz="2600"/>
          </a:p>
        </p:txBody>
      </p:sp>
      <p:sp>
        <p:nvSpPr>
          <p:cNvPr id="165" name="Google Shape;165;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900"/>
              <a:t>Identify relevant variables: Determine the key factors involved in the system of interest.</a:t>
            </a:r>
            <a:endParaRPr sz="1900"/>
          </a:p>
          <a:p>
            <a:pPr indent="0" lvl="0" marL="0" rtl="0" algn="l">
              <a:spcBef>
                <a:spcPts val="1200"/>
              </a:spcBef>
              <a:spcAft>
                <a:spcPts val="0"/>
              </a:spcAft>
              <a:buNone/>
            </a:pPr>
            <a:r>
              <a:rPr lang="en" sz="1900"/>
              <a:t>Specify conditional dependencies: Establish the directed relationships between the variables.</a:t>
            </a:r>
            <a:endParaRPr sz="1900"/>
          </a:p>
          <a:p>
            <a:pPr indent="0" lvl="0" marL="0" rtl="0" algn="l">
              <a:spcBef>
                <a:spcPts val="1200"/>
              </a:spcBef>
              <a:spcAft>
                <a:spcPts val="0"/>
              </a:spcAft>
              <a:buNone/>
            </a:pPr>
            <a:r>
              <a:rPr lang="en" sz="1900"/>
              <a:t>Quantify conditional probabilities: Populate the CPTs using expert knowledge or data analysis.</a:t>
            </a:r>
            <a:endParaRPr sz="1900"/>
          </a:p>
          <a:p>
            <a:pPr indent="0" lvl="0" marL="0" rtl="0" algn="l">
              <a:spcBef>
                <a:spcPts val="1200"/>
              </a:spcBef>
              <a:spcAft>
                <a:spcPts val="1200"/>
              </a:spcAft>
              <a:buNone/>
            </a:pPr>
            <a:r>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Create a Bayesian Network Model</a:t>
            </a:r>
            <a:endParaRPr/>
          </a:p>
        </p:txBody>
      </p:sp>
      <p:sp>
        <p:nvSpPr>
          <p:cNvPr id="171" name="Google Shape;171;p19"/>
          <p:cNvSpPr txBox="1"/>
          <p:nvPr>
            <p:ph idx="1" type="body"/>
          </p:nvPr>
        </p:nvSpPr>
        <p:spPr>
          <a:xfrm>
            <a:off x="226800" y="1903275"/>
            <a:ext cx="3465000" cy="20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The marks will depends on:</a:t>
            </a:r>
            <a:endParaRPr sz="1400"/>
          </a:p>
          <a:p>
            <a:pPr indent="-317500" lvl="0" marL="457200" rtl="0" algn="l">
              <a:spcBef>
                <a:spcPts val="1200"/>
              </a:spcBef>
              <a:spcAft>
                <a:spcPts val="0"/>
              </a:spcAft>
              <a:buSzPts val="1400"/>
              <a:buChar char="●"/>
            </a:pPr>
            <a:r>
              <a:rPr b="1" lang="en" sz="1400"/>
              <a:t>Exam Level</a:t>
            </a:r>
            <a:r>
              <a:rPr lang="en" sz="1400"/>
              <a:t> (e): (Difficult, easy)</a:t>
            </a:r>
            <a:endParaRPr sz="1400"/>
          </a:p>
          <a:p>
            <a:pPr indent="-317500" lvl="0" marL="457200" rtl="0" algn="l">
              <a:spcBef>
                <a:spcPts val="0"/>
              </a:spcBef>
              <a:spcAft>
                <a:spcPts val="0"/>
              </a:spcAft>
              <a:buSzPts val="1400"/>
              <a:buChar char="●"/>
            </a:pPr>
            <a:r>
              <a:rPr b="1" lang="en" sz="1400"/>
              <a:t>IQ </a:t>
            </a:r>
            <a:r>
              <a:rPr lang="en" sz="1400"/>
              <a:t>of student (i): (high, low)</a:t>
            </a:r>
            <a:endParaRPr sz="1400"/>
          </a:p>
          <a:p>
            <a:pPr indent="-317500" lvl="0" marL="457200" rtl="0" algn="l">
              <a:spcBef>
                <a:spcPts val="0"/>
              </a:spcBef>
              <a:spcAft>
                <a:spcPts val="0"/>
              </a:spcAft>
              <a:buSzPts val="1400"/>
              <a:buChar char="●"/>
            </a:pPr>
            <a:r>
              <a:rPr lang="en" sz="1400"/>
              <a:t>Marks -&gt; </a:t>
            </a:r>
            <a:r>
              <a:rPr b="1" lang="en" sz="1400"/>
              <a:t>admitted (a)</a:t>
            </a:r>
            <a:r>
              <a:rPr lang="en" sz="1400"/>
              <a:t> to university</a:t>
            </a:r>
            <a:endParaRPr sz="1400"/>
          </a:p>
          <a:p>
            <a:pPr indent="-317500" lvl="0" marL="457200" rtl="0" algn="l">
              <a:spcBef>
                <a:spcPts val="0"/>
              </a:spcBef>
              <a:spcAft>
                <a:spcPts val="0"/>
              </a:spcAft>
              <a:buSzPts val="1400"/>
              <a:buChar char="●"/>
            </a:pPr>
            <a:r>
              <a:rPr lang="en" sz="1400"/>
              <a:t>The IQ -&gt; </a:t>
            </a:r>
            <a:r>
              <a:rPr b="1" lang="en" sz="1400"/>
              <a:t>aptitude</a:t>
            </a:r>
            <a:r>
              <a:rPr b="1" lang="en" sz="1400"/>
              <a:t> score (s)</a:t>
            </a:r>
            <a:r>
              <a:rPr lang="en" sz="1400"/>
              <a:t> of the students</a:t>
            </a:r>
            <a:endParaRPr sz="1400"/>
          </a:p>
        </p:txBody>
      </p:sp>
      <p:pic>
        <p:nvPicPr>
          <p:cNvPr id="172" name="Google Shape;172;p19"/>
          <p:cNvPicPr preferRelativeResize="0"/>
          <p:nvPr/>
        </p:nvPicPr>
        <p:blipFill>
          <a:blip r:embed="rId3">
            <a:alphaModFix/>
          </a:blip>
          <a:stretch>
            <a:fillRect/>
          </a:stretch>
        </p:blipFill>
        <p:spPr>
          <a:xfrm>
            <a:off x="3921476" y="1567550"/>
            <a:ext cx="4414924" cy="2911200"/>
          </a:xfrm>
          <a:prstGeom prst="rect">
            <a:avLst/>
          </a:prstGeom>
          <a:noFill/>
          <a:ln>
            <a:noFill/>
          </a:ln>
        </p:spPr>
      </p:pic>
      <p:sp>
        <p:nvSpPr>
          <p:cNvPr id="173" name="Google Shape;173;p19"/>
          <p:cNvSpPr txBox="1"/>
          <p:nvPr/>
        </p:nvSpPr>
        <p:spPr>
          <a:xfrm>
            <a:off x="5188850" y="4617325"/>
            <a:ext cx="2295000" cy="26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Pic Credit: Edureka.com</a:t>
            </a: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Application of Bayesian Networks</a:t>
            </a:r>
            <a:endParaRPr/>
          </a:p>
        </p:txBody>
      </p:sp>
      <p:sp>
        <p:nvSpPr>
          <p:cNvPr id="179" name="Google Shape;179;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10000"/>
          </a:bodyPr>
          <a:lstStyle/>
          <a:p>
            <a:pPr indent="0" lvl="0" marL="0" marR="0" rtl="0" algn="l">
              <a:lnSpc>
                <a:spcPct val="115000"/>
              </a:lnSpc>
              <a:spcBef>
                <a:spcPts val="0"/>
              </a:spcBef>
              <a:spcAft>
                <a:spcPts val="0"/>
              </a:spcAft>
              <a:buNone/>
            </a:pPr>
            <a:r>
              <a:rPr lang="en" sz="1900"/>
              <a:t>Medical Diagnosis:</a:t>
            </a:r>
            <a:endParaRPr sz="1900"/>
          </a:p>
          <a:p>
            <a:pPr indent="-313055" lvl="0" marL="457200" marR="0" rtl="0" algn="l">
              <a:lnSpc>
                <a:spcPct val="115000"/>
              </a:lnSpc>
              <a:spcBef>
                <a:spcPts val="1200"/>
              </a:spcBef>
              <a:spcAft>
                <a:spcPts val="0"/>
              </a:spcAft>
              <a:buSzPct val="100000"/>
              <a:buChar char="●"/>
            </a:pPr>
            <a:r>
              <a:rPr lang="en" sz="1900"/>
              <a:t>Bayesian Networks are extensively used in medical diagnosis systems to assist healthcare professionals in diagnosing diseases.</a:t>
            </a:r>
            <a:endParaRPr sz="1900"/>
          </a:p>
          <a:p>
            <a:pPr indent="-313055" lvl="0" marL="457200" marR="0" rtl="0" algn="l">
              <a:lnSpc>
                <a:spcPct val="115000"/>
              </a:lnSpc>
              <a:spcBef>
                <a:spcPts val="0"/>
              </a:spcBef>
              <a:spcAft>
                <a:spcPts val="0"/>
              </a:spcAft>
              <a:buSzPct val="100000"/>
              <a:buChar char="●"/>
            </a:pPr>
            <a:r>
              <a:rPr lang="en" sz="1900"/>
              <a:t>By modeling the probabilistic relationships between symptoms, diseases, and patient demographics, Bayesian Networks can provide accurate diagnostic predictions.</a:t>
            </a:r>
            <a:endParaRPr sz="1900"/>
          </a:p>
          <a:p>
            <a:pPr indent="-313055" lvl="0" marL="457200" marR="0" rtl="0" algn="l">
              <a:lnSpc>
                <a:spcPct val="115000"/>
              </a:lnSpc>
              <a:spcBef>
                <a:spcPts val="0"/>
              </a:spcBef>
              <a:spcAft>
                <a:spcPts val="0"/>
              </a:spcAft>
              <a:buSzPct val="100000"/>
              <a:buChar char="●"/>
            </a:pPr>
            <a:r>
              <a:rPr lang="en" sz="1900"/>
              <a:t>For example, in diagnosing a patient's illness, a Bayesian Network can incorporate symptoms, medical history, test results, and demographic information to calculate the probability of various diseases.</a:t>
            </a:r>
            <a:endParaRPr sz="1900"/>
          </a:p>
          <a:p>
            <a:pPr indent="-313055" lvl="0" marL="457200" marR="0" rtl="0" algn="l">
              <a:lnSpc>
                <a:spcPct val="115000"/>
              </a:lnSpc>
              <a:spcBef>
                <a:spcPts val="0"/>
              </a:spcBef>
              <a:spcAft>
                <a:spcPts val="0"/>
              </a:spcAft>
              <a:buSzPct val="100000"/>
              <a:buChar char="●"/>
            </a:pPr>
            <a:r>
              <a:rPr lang="en" sz="1900"/>
              <a:t>These networks help prioritize diagnostic tests, reduce unnecessary testing, and improve patient outcomes by providing timely and accurate diagnoses.</a:t>
            </a:r>
            <a:endParaRPr sz="1900"/>
          </a:p>
          <a:p>
            <a:pPr indent="0" lvl="0" marL="0" rtl="0" algn="l">
              <a:spcBef>
                <a:spcPts val="1200"/>
              </a:spcBef>
              <a:spcAft>
                <a:spcPts val="1200"/>
              </a:spcAft>
              <a:buNone/>
            </a:pPr>
            <a:r>
              <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and Solutions in Bayesian Networks</a:t>
            </a:r>
            <a:endParaRPr/>
          </a:p>
        </p:txBody>
      </p:sp>
      <p:sp>
        <p:nvSpPr>
          <p:cNvPr id="185" name="Google Shape;185;p21"/>
          <p:cNvSpPr txBox="1"/>
          <p:nvPr>
            <p:ph idx="1" type="body"/>
          </p:nvPr>
        </p:nvSpPr>
        <p:spPr>
          <a:xfrm>
            <a:off x="200650" y="1498250"/>
            <a:ext cx="37644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Challenges:</a:t>
            </a:r>
            <a:endParaRPr b="1"/>
          </a:p>
          <a:p>
            <a:pPr indent="-311150" lvl="0" marL="457200" rtl="0" algn="l">
              <a:spcBef>
                <a:spcPts val="1200"/>
              </a:spcBef>
              <a:spcAft>
                <a:spcPts val="0"/>
              </a:spcAft>
              <a:buSzPts val="1300"/>
              <a:buChar char="●"/>
            </a:pPr>
            <a:r>
              <a:rPr lang="en"/>
              <a:t>Computational Complexity</a:t>
            </a:r>
            <a:endParaRPr/>
          </a:p>
          <a:p>
            <a:pPr indent="-298450" lvl="1" marL="914400" rtl="0" algn="l">
              <a:spcBef>
                <a:spcPts val="0"/>
              </a:spcBef>
              <a:spcAft>
                <a:spcPts val="0"/>
              </a:spcAft>
              <a:buSzPts val="1100"/>
              <a:buChar char="○"/>
            </a:pPr>
            <a:r>
              <a:rPr lang="en"/>
              <a:t>High computational demands, especially with large networks or high-dimensional data.</a:t>
            </a:r>
            <a:endParaRPr/>
          </a:p>
          <a:p>
            <a:pPr indent="-311150" lvl="0" marL="457200" rtl="0" algn="l">
              <a:spcBef>
                <a:spcPts val="0"/>
              </a:spcBef>
              <a:spcAft>
                <a:spcPts val="0"/>
              </a:spcAft>
              <a:buSzPts val="1300"/>
              <a:buChar char="●"/>
            </a:pPr>
            <a:r>
              <a:rPr lang="en"/>
              <a:t>Difficulty in Specifying Prior Probabilities</a:t>
            </a:r>
            <a:endParaRPr/>
          </a:p>
          <a:p>
            <a:pPr indent="-298450" lvl="1" marL="914400" rtl="0" algn="l">
              <a:spcBef>
                <a:spcPts val="0"/>
              </a:spcBef>
              <a:spcAft>
                <a:spcPts val="0"/>
              </a:spcAft>
              <a:buSzPts val="1100"/>
              <a:buChar char="○"/>
            </a:pPr>
            <a:r>
              <a:rPr lang="en"/>
              <a:t>Subjective interpretation and lack of prior knowledge can lead to biased inference.</a:t>
            </a:r>
            <a:endParaRPr/>
          </a:p>
          <a:p>
            <a:pPr indent="0" lvl="0" marL="0" rtl="0" algn="l">
              <a:spcBef>
                <a:spcPts val="1200"/>
              </a:spcBef>
              <a:spcAft>
                <a:spcPts val="1200"/>
              </a:spcAft>
              <a:buNone/>
            </a:pPr>
            <a:r>
              <a:t/>
            </a:r>
            <a:endParaRPr/>
          </a:p>
        </p:txBody>
      </p:sp>
      <p:sp>
        <p:nvSpPr>
          <p:cNvPr id="186" name="Google Shape;186;p21"/>
          <p:cNvSpPr txBox="1"/>
          <p:nvPr/>
        </p:nvSpPr>
        <p:spPr>
          <a:xfrm>
            <a:off x="3809450" y="1391900"/>
            <a:ext cx="5076900" cy="312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lt1"/>
                </a:solidFill>
                <a:latin typeface="Lato"/>
                <a:ea typeface="Lato"/>
                <a:cs typeface="Lato"/>
                <a:sym typeface="Lato"/>
              </a:rPr>
              <a:t>Solutions and Research:</a:t>
            </a:r>
            <a:endParaRPr b="1" sz="1300">
              <a:solidFill>
                <a:schemeClr val="lt1"/>
              </a:solidFill>
              <a:latin typeface="Lato"/>
              <a:ea typeface="Lato"/>
              <a:cs typeface="Lato"/>
              <a:sym typeface="Lato"/>
            </a:endParaRPr>
          </a:p>
          <a:p>
            <a:pPr indent="-311150" lvl="0" marL="457200" rtl="0" algn="l">
              <a:lnSpc>
                <a:spcPct val="115000"/>
              </a:lnSpc>
              <a:spcBef>
                <a:spcPts val="1200"/>
              </a:spcBef>
              <a:spcAft>
                <a:spcPts val="0"/>
              </a:spcAft>
              <a:buClr>
                <a:schemeClr val="lt1"/>
              </a:buClr>
              <a:buSzPts val="1300"/>
              <a:buFont typeface="Lato"/>
              <a:buChar char="●"/>
            </a:pPr>
            <a:r>
              <a:rPr lang="en" sz="1300">
                <a:solidFill>
                  <a:schemeClr val="lt1"/>
                </a:solidFill>
                <a:latin typeface="Lato"/>
                <a:ea typeface="Lato"/>
                <a:cs typeface="Lato"/>
                <a:sym typeface="Lato"/>
              </a:rPr>
              <a:t>Advanced Algorithms</a:t>
            </a:r>
            <a:endParaRPr sz="1300">
              <a:solidFill>
                <a:schemeClr val="lt1"/>
              </a:solidFill>
              <a:latin typeface="Lato"/>
              <a:ea typeface="Lato"/>
              <a:cs typeface="Lato"/>
              <a:sym typeface="Lato"/>
            </a:endParaRPr>
          </a:p>
          <a:p>
            <a:pPr indent="-298450" lvl="1" marL="914400" rtl="0" algn="l">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Approximate inference methods (e.g., Markov Chain Monte Carlo, Variational Inference) for efficient computation.</a:t>
            </a:r>
            <a:endParaRPr sz="11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Data-Driven Approaches</a:t>
            </a:r>
            <a:endParaRPr sz="1300">
              <a:solidFill>
                <a:schemeClr val="lt1"/>
              </a:solidFill>
              <a:latin typeface="Lato"/>
              <a:ea typeface="Lato"/>
              <a:cs typeface="Lato"/>
              <a:sym typeface="Lato"/>
            </a:endParaRPr>
          </a:p>
          <a:p>
            <a:pPr indent="-298450" lvl="1" marL="914400" rtl="0" algn="l">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Machine learning techniques to estimate prior probabilities from data.</a:t>
            </a:r>
            <a:endParaRPr sz="11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Hybrid Models</a:t>
            </a:r>
            <a:endParaRPr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Integration with other probabilistic graphical models or deep learning architectures for scalability and accuracy.</a:t>
            </a:r>
            <a:endParaRPr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Automated Model Construction</a:t>
            </a:r>
            <a:endParaRPr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Tools and frameworks for automated model construction to aid in prior probability specification and reduce human bias.</a:t>
            </a:r>
            <a:endParaRPr sz="13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571850" y="1277250"/>
            <a:ext cx="5149800" cy="1358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